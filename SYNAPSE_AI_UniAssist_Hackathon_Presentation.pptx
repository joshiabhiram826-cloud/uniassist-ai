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274320"/>
            <a:ext cx="2103120" cy="2103120"/>
          </a:xfrm>
          <a:prstGeom prst="ellipse">
            <a:avLst/>
          </a:prstGeom>
          <a:solidFill>
            <a:srgbClr val="395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3017520"/>
            <a:ext cx="1097280" cy="1097280"/>
          </a:xfrm>
          <a:prstGeom prst="ellipse">
            <a:avLst/>
          </a:prstGeom>
          <a:solidFill>
            <a:srgbClr val="33B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5029200"/>
            <a:ext cx="1371600" cy="1371600"/>
          </a:xfrm>
          <a:prstGeom prst="ellipse">
            <a:avLst/>
          </a:prstGeom>
          <a:solidFill>
            <a:srgbClr val="273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45720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1">
                <a:solidFill>
                  <a:srgbClr val="33B5CF"/>
                </a:solidFill>
                <a:latin typeface="Aptos"/>
              </a:defRPr>
            </a:pPr>
            <a:r>
              <a:t>HACKATHON PROJECT  •  AI*01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8046720" cy="9601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"/>
              </a:defRPr>
            </a:pPr>
            <a:r>
              <a:t>UNIASSIST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04288"/>
            <a:ext cx="75895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0">
                <a:solidFill>
                  <a:srgbClr val="D0DBFF"/>
                </a:solidFill>
                <a:latin typeface="Aptos"/>
              </a:defRPr>
            </a:pPr>
            <a:r>
              <a:t>College Knowledge RAG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200400"/>
            <a:ext cx="704088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Your college knowledge, one question away.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251960"/>
            <a:ext cx="7772400" cy="1554480"/>
          </a:xfrm>
          <a:prstGeom prst="roundRect">
            <a:avLst/>
          </a:prstGeom>
          <a:solidFill>
            <a:srgbClr val="1E2C4E"/>
          </a:solidFill>
          <a:ln>
            <a:solidFill>
              <a:srgbClr val="3E51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462272"/>
            <a:ext cx="71323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33B5CF"/>
                </a:solidFill>
                <a:latin typeface="Aptos"/>
              </a:defRPr>
            </a:pPr>
            <a:r>
              <a:t>TEAM SYNAPSE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828032"/>
            <a:ext cx="722376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Abhiram Joshi  •  Karthik Shivappa Umachagi</a:t>
            </a:r>
            <a:br/>
            <a:r>
              <a:t>Shivashankar S Jatti  •  Somesh S Belludi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17920"/>
            <a:ext cx="80467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BAC5E0"/>
                </a:solidFill>
                <a:latin typeface="Aptos"/>
              </a:defRPr>
            </a:pPr>
            <a:r>
              <a:t>AIML  |  First Year  |  A3 Division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172200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200" b="1">
                <a:solidFill>
                  <a:srgbClr val="33B5CF"/>
                </a:solidFill>
                <a:latin typeface="Aptos"/>
              </a:defRPr>
            </a:pPr>
            <a:r>
              <a:t>LIVE PROJECT  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6446520"/>
            <a:ext cx="31546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Aptos"/>
              </a:defRPr>
            </a:pPr>
            <a:r>
              <a:t>uniassistai.lovable.app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700" b="1">
                <a:solidFill>
                  <a:srgbClr val="141F3B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0">
                <a:solidFill>
                  <a:srgbClr val="68748D"/>
                </a:solidFill>
                <a:latin typeface="Aptos"/>
              </a:defRPr>
            </a:pPr>
            <a:r>
              <a:t>College information is available — but often hard to find.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05840" cy="50292"/>
          </a:xfrm>
          <a:prstGeom prst="rect">
            <a:avLst/>
          </a:prstGeom>
          <a:solidFill>
            <a:srgbClr val="395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1">
                <a:solidFill>
                  <a:srgbClr val="68748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81912"/>
            <a:ext cx="64008" cy="1728216"/>
          </a:xfrm>
          <a:prstGeom prst="rect">
            <a:avLst/>
          </a:prstGeom>
          <a:solidFill>
            <a:srgbClr val="395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73351"/>
            <a:ext cx="317296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Scattered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75688"/>
            <a:ext cx="3154680" cy="12161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Rules, notices, calendars and handbooks live across multiple documents.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81912"/>
            <a:ext cx="64008" cy="1728216"/>
          </a:xfrm>
          <a:prstGeom prst="rect">
            <a:avLst/>
          </a:prstGeom>
          <a:solidFill>
            <a:srgbClr val="33B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673351"/>
            <a:ext cx="317296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Time-consuming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075688"/>
            <a:ext cx="3154680" cy="12161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Students may need to open several PDFs or ask multiple people.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087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81912"/>
            <a:ext cx="64008" cy="1728216"/>
          </a:xfrm>
          <a:prstGeom prst="rect">
            <a:avLst/>
          </a:prstGeom>
          <a:solidFill>
            <a:srgbClr val="1C9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673351"/>
            <a:ext cx="317296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Trust &amp;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75688"/>
            <a:ext cx="3154680" cy="12161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A useful answer should show where the information came from.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77639"/>
            <a:ext cx="105156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000" b="1">
                <a:solidFill>
                  <a:srgbClr val="3957D2"/>
                </a:solidFill>
                <a:latin typeface="Aptos"/>
              </a:defRPr>
            </a:pPr>
            <a:r>
              <a:t>The opportunity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80560"/>
            <a:ext cx="105156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400" b="1">
                <a:solidFill>
                  <a:srgbClr val="141F3B"/>
                </a:solidFill>
                <a:latin typeface="Aptos"/>
              </a:defRPr>
            </a:pPr>
            <a:r>
              <a:t>Make college knowledge searchable through natural-language questions, while keeping answers traceable to official documents.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700" b="1">
                <a:solidFill>
                  <a:srgbClr val="141F3B"/>
                </a:solidFill>
                <a:latin typeface="Aptos"/>
              </a:defRPr>
            </a:pPr>
            <a:r>
              <a:t>Our Solution: UniAssist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0">
                <a:solidFill>
                  <a:srgbClr val="68748D"/>
                </a:solidFill>
                <a:latin typeface="Aptos"/>
              </a:defRPr>
            </a:pPr>
            <a:r>
              <a:t>A single conversational entry point for college documents.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05840" cy="50292"/>
          </a:xfrm>
          <a:prstGeom prst="rect">
            <a:avLst/>
          </a:prstGeom>
          <a:solidFill>
            <a:srgbClr val="395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1">
                <a:solidFill>
                  <a:srgbClr val="68748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7548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200" b="1">
                <a:solidFill>
                  <a:srgbClr val="141F3B"/>
                </a:solidFill>
                <a:latin typeface="Aptos"/>
              </a:defRPr>
            </a:pPr>
            <a:r>
              <a:t>Ask in plain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5486400" cy="35661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D44"/>
                </a:solidFill>
                <a:latin typeface="Aptos"/>
              </a:defRPr>
            </a:pPr>
            <a:r>
              <a:t>•  Ask about academic rules, notices, scholarships and student services.</a:t>
            </a:r>
          </a:p>
          <a:p>
            <a:pPr>
              <a:spcAft>
                <a:spcPts val="1200"/>
              </a:spcAft>
              <a:defRPr sz="1700">
                <a:solidFill>
                  <a:srgbClr val="232D44"/>
                </a:solidFill>
                <a:latin typeface="Aptos"/>
              </a:defRPr>
            </a:pPr>
            <a:r>
              <a:t>•  Retrieve relevant passages from a college knowledge base.</a:t>
            </a:r>
          </a:p>
          <a:p>
            <a:pPr>
              <a:spcAft>
                <a:spcPts val="1200"/>
              </a:spcAft>
              <a:defRPr sz="1700">
                <a:solidFill>
                  <a:srgbClr val="232D44"/>
                </a:solidFill>
                <a:latin typeface="Aptos"/>
              </a:defRPr>
            </a:pPr>
            <a:r>
              <a:t>•  Generate a concise answer grounded in the retrieved content.</a:t>
            </a:r>
          </a:p>
          <a:p>
            <a:pPr>
              <a:spcAft>
                <a:spcPts val="1200"/>
              </a:spcAft>
              <a:defRPr sz="1700">
                <a:solidFill>
                  <a:srgbClr val="232D44"/>
                </a:solidFill>
                <a:latin typeface="Aptos"/>
              </a:defRPr>
            </a:pPr>
            <a:r>
              <a:t>•  Show source document and page details where available.</a:t>
            </a:r>
          </a:p>
          <a:p>
            <a:pPr>
              <a:spcAft>
                <a:spcPts val="1200"/>
              </a:spcAft>
              <a:defRPr sz="1700">
                <a:solidFill>
                  <a:srgbClr val="232D44"/>
                </a:solidFill>
                <a:latin typeface="Aptos"/>
              </a:defRPr>
            </a:pPr>
            <a:r>
              <a:t>•  Acknowledge when the available documents do not contain the answer.</a:t>
            </a:r>
          </a:p>
        </p:txBody>
      </p:sp>
      <p:pic>
        <p:nvPicPr>
          <p:cNvPr id="9" name="Picture 8" descr="uniassist_ai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8760"/>
            <a:ext cx="5166360" cy="29060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92240" y="5943600"/>
            <a:ext cx="49834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0">
                <a:solidFill>
                  <a:srgbClr val="68748D"/>
                </a:solidFill>
                <a:latin typeface="Aptos"/>
              </a:defRPr>
            </a:pPr>
            <a:r>
              <a:t>Illustrative interface mock-up, not a captured live screenshot.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700" b="1">
                <a:solidFill>
                  <a:srgbClr val="141F3B"/>
                </a:solidFill>
                <a:latin typeface="Aptos"/>
              </a:defRPr>
            </a:pPr>
            <a:r>
              <a:t>Live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0">
                <a:solidFill>
                  <a:srgbClr val="68748D"/>
                </a:solidFill>
                <a:latin typeface="Aptos"/>
              </a:defRPr>
            </a:pPr>
            <a:r>
              <a:t>Open the running project during the presentation.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05840" cy="50292"/>
          </a:xfrm>
          <a:prstGeom prst="rect">
            <a:avLst/>
          </a:prstGeom>
          <a:solidFill>
            <a:srgbClr val="395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1">
                <a:solidFill>
                  <a:srgbClr val="68748D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7" name="Picture 6" descr="uniassist_ai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6949440" cy="39090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09560" y="164592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09560" y="1719072"/>
            <a:ext cx="64008" cy="1179576"/>
          </a:xfrm>
          <a:prstGeom prst="rect">
            <a:avLst/>
          </a:prstGeom>
          <a:solidFill>
            <a:srgbClr val="395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8" y="1810512"/>
            <a:ext cx="312724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Live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0728" y="2212848"/>
            <a:ext cx="3108960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https://uniassistai.lovable.app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324612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09560" y="3319272"/>
            <a:ext cx="64008" cy="1179576"/>
          </a:xfrm>
          <a:prstGeom prst="rect">
            <a:avLst/>
          </a:prstGeom>
          <a:solidFill>
            <a:srgbClr val="33B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0728" y="3410712"/>
            <a:ext cx="312724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Demo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0728" y="3813048"/>
            <a:ext cx="3108960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Ask a question with a known answer, then verify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4846320"/>
            <a:ext cx="3474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4919472"/>
            <a:ext cx="64008" cy="950976"/>
          </a:xfrm>
          <a:prstGeom prst="rect">
            <a:avLst/>
          </a:prstGeom>
          <a:solidFill>
            <a:srgbClr val="1C9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8" y="5010912"/>
            <a:ext cx="312724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Before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8" y="5413248"/>
            <a:ext cx="310896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Use authentic, authorized college documents and test citations.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217920"/>
            <a:ext cx="67665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0">
                <a:solidFill>
                  <a:srgbClr val="68748D"/>
                </a:solidFill>
                <a:latin typeface="Aptos"/>
              </a:defRPr>
            </a:pPr>
            <a:r>
              <a:t>Note: replace the illustrative mock-up with a real screenshot from your app if possible.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700" b="1">
                <a:solidFill>
                  <a:srgbClr val="141F3B"/>
                </a:solidFill>
                <a:latin typeface="Aptos"/>
              </a:defRPr>
            </a:pPr>
            <a:r>
              <a:t>How RAG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0">
                <a:solidFill>
                  <a:srgbClr val="68748D"/>
                </a:solidFill>
                <a:latin typeface="Aptos"/>
              </a:defRPr>
            </a:pPr>
            <a:r>
              <a:t>Retrieval-Augmented Generation connects answers to a document knowledge base.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05840" cy="50292"/>
          </a:xfrm>
          <a:prstGeom prst="rect">
            <a:avLst/>
          </a:prstGeom>
          <a:solidFill>
            <a:srgbClr val="395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1">
                <a:solidFill>
                  <a:srgbClr val="68748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828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76272"/>
            <a:ext cx="64008" cy="1362456"/>
          </a:xfrm>
          <a:prstGeom prst="rect">
            <a:avLst/>
          </a:prstGeom>
          <a:solidFill>
            <a:srgbClr val="395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67712"/>
            <a:ext cx="148132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1. Documents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670048"/>
            <a:ext cx="1463040" cy="8503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PDFs, notices,</a:t>
            </a:r>
            <a:br/>
            <a:r>
              <a:t>handbooks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578608"/>
            <a:ext cx="457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500" b="1">
                <a:solidFill>
                  <a:srgbClr val="3957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103120"/>
            <a:ext cx="1828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40" y="2176272"/>
            <a:ext cx="64008" cy="1362456"/>
          </a:xfrm>
          <a:prstGeom prst="rect">
            <a:avLst/>
          </a:prstGeom>
          <a:solidFill>
            <a:srgbClr val="33B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2267712"/>
            <a:ext cx="148132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2. Extract &amp; chunk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670048"/>
            <a:ext cx="1463040" cy="8503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Clean text into</a:t>
            </a:r>
            <a:br/>
            <a:r>
              <a:t>small passages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578608"/>
            <a:ext cx="457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500" b="1">
                <a:solidFill>
                  <a:srgbClr val="3957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2103120"/>
            <a:ext cx="1828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6360" y="2176272"/>
            <a:ext cx="64008" cy="1362456"/>
          </a:xfrm>
          <a:prstGeom prst="rect">
            <a:avLst/>
          </a:prstGeom>
          <a:solidFill>
            <a:srgbClr val="395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67528" y="2267712"/>
            <a:ext cx="148132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3. Retrieve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2670048"/>
            <a:ext cx="1463040" cy="8503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Find relevant</a:t>
            </a:r>
            <a:br/>
            <a:r>
              <a:t>passages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578608"/>
            <a:ext cx="457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500" b="1">
                <a:solidFill>
                  <a:srgbClr val="3957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2103120"/>
            <a:ext cx="1828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79" y="2176272"/>
            <a:ext cx="64008" cy="1362456"/>
          </a:xfrm>
          <a:prstGeom prst="rect">
            <a:avLst/>
          </a:prstGeom>
          <a:solidFill>
            <a:srgbClr val="1C9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8" y="2267712"/>
            <a:ext cx="148132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4. 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2670048"/>
            <a:ext cx="1463040" cy="8503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LLM answers using</a:t>
            </a:r>
            <a:br/>
            <a:r>
              <a:t>retrieved 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578608"/>
            <a:ext cx="457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500" b="1">
                <a:solidFill>
                  <a:srgbClr val="3957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29800" y="2103120"/>
            <a:ext cx="1828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29800" y="2176272"/>
            <a:ext cx="64008" cy="1362456"/>
          </a:xfrm>
          <a:prstGeom prst="rect">
            <a:avLst/>
          </a:prstGeom>
          <a:solidFill>
            <a:srgbClr val="F0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30968" y="2267712"/>
            <a:ext cx="148132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5. Cite 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0968" y="2670048"/>
            <a:ext cx="1463040" cy="8503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Show document</a:t>
            </a:r>
            <a:br/>
            <a:r>
              <a:t>and page details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297680"/>
            <a:ext cx="1060704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000" b="1">
                <a:solidFill>
                  <a:srgbClr val="3957D2"/>
                </a:solidFill>
                <a:latin typeface="Aptos"/>
              </a:defRPr>
            </a:pPr>
            <a:r>
              <a:t>Reliability principle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800600"/>
            <a:ext cx="1069848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900" b="1">
                <a:solidFill>
                  <a:srgbClr val="141F3B"/>
                </a:solidFill>
                <a:latin typeface="Aptos"/>
              </a:defRPr>
            </a:pPr>
            <a:r>
              <a:t>If the retrieved documents do not support an answer, the assistant should say it cannot verify the information instead of guessing.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700" b="1">
                <a:solidFill>
                  <a:srgbClr val="141F3B"/>
                </a:solidFill>
                <a:latin typeface="Aptos"/>
              </a:defRPr>
            </a:pPr>
            <a:r>
              <a:t>Core Features &amp; User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0">
                <a:solidFill>
                  <a:srgbClr val="68748D"/>
                </a:solidFill>
                <a:latin typeface="Aptos"/>
              </a:defRPr>
            </a:pPr>
            <a:r>
              <a:t>Focus on features that can be demonstrated and verified.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05840" cy="50292"/>
          </a:xfrm>
          <a:prstGeom prst="rect">
            <a:avLst/>
          </a:prstGeom>
          <a:solidFill>
            <a:srgbClr val="395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1">
                <a:solidFill>
                  <a:srgbClr val="68748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81912"/>
            <a:ext cx="64008" cy="1499616"/>
          </a:xfrm>
          <a:prstGeom prst="rect">
            <a:avLst/>
          </a:prstGeom>
          <a:solidFill>
            <a:srgbClr val="395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73351"/>
            <a:ext cx="299008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Natural-language 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75688"/>
            <a:ext cx="2971800" cy="9875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Students ask questions in everyday language.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0876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581912"/>
            <a:ext cx="64008" cy="1499616"/>
          </a:xfrm>
          <a:prstGeom prst="rect">
            <a:avLst/>
          </a:prstGeom>
          <a:solidFill>
            <a:srgbClr val="33B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673351"/>
            <a:ext cx="299008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Document-grounded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075688"/>
            <a:ext cx="2971800" cy="9875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Responses use relevant retrieved passages.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581912"/>
            <a:ext cx="64008" cy="1499616"/>
          </a:xfrm>
          <a:prstGeom prst="rect">
            <a:avLst/>
          </a:prstGeom>
          <a:solidFill>
            <a:srgbClr val="1C9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1673351"/>
            <a:ext cx="299008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Source 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075688"/>
            <a:ext cx="2971800" cy="9875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Help users check the original information.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5760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730752"/>
            <a:ext cx="64008" cy="1499616"/>
          </a:xfrm>
          <a:prstGeom prst="rect">
            <a:avLst/>
          </a:prstGeom>
          <a:solidFill>
            <a:srgbClr val="F0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822191"/>
            <a:ext cx="299008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Document categories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224528"/>
            <a:ext cx="2971800" cy="9875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Organize academics, exams, scholarships and placements.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65760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730752"/>
            <a:ext cx="64008" cy="1499616"/>
          </a:xfrm>
          <a:prstGeom prst="rect">
            <a:avLst/>
          </a:prstGeom>
          <a:solidFill>
            <a:srgbClr val="395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7" y="3822191"/>
            <a:ext cx="299008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Graceful fallback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7" y="4224528"/>
            <a:ext cx="2971800" cy="9875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Admit when information is missing or ambiguous.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365760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79" y="3730752"/>
            <a:ext cx="64008" cy="1499616"/>
          </a:xfrm>
          <a:prstGeom prst="rect">
            <a:avLst/>
          </a:prstGeom>
          <a:solidFill>
            <a:srgbClr val="33B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5048" y="3822191"/>
            <a:ext cx="299008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Responsive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4224528"/>
            <a:ext cx="2971800" cy="9875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Designed for desktop and mobile 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700" b="1">
                <a:solidFill>
                  <a:srgbClr val="141F3B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0">
                <a:solidFill>
                  <a:srgbClr val="68748D"/>
                </a:solidFill>
                <a:latin typeface="Aptos"/>
              </a:defRPr>
            </a:pPr>
            <a:r>
              <a:t>A reference architecture — confirm the exact stack against your implementation.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05840" cy="50292"/>
          </a:xfrm>
          <a:prstGeom prst="rect">
            <a:avLst/>
          </a:prstGeom>
          <a:solidFill>
            <a:srgbClr val="395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1">
                <a:solidFill>
                  <a:srgbClr val="68748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94560"/>
            <a:ext cx="1600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67712"/>
            <a:ext cx="64008" cy="1316736"/>
          </a:xfrm>
          <a:prstGeom prst="rect">
            <a:avLst/>
          </a:prstGeom>
          <a:solidFill>
            <a:srgbClr val="395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359152"/>
            <a:ext cx="125272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761488"/>
            <a:ext cx="1234440" cy="8046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4832" y="2670048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000" b="1">
                <a:solidFill>
                  <a:srgbClr val="3957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41448" y="2194560"/>
            <a:ext cx="1600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41448" y="2267712"/>
            <a:ext cx="64008" cy="1316736"/>
          </a:xfrm>
          <a:prstGeom prst="rect">
            <a:avLst/>
          </a:prstGeom>
          <a:solidFill>
            <a:srgbClr val="33B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42616" y="2359152"/>
            <a:ext cx="125272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2616" y="2761488"/>
            <a:ext cx="1234440" cy="8046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Lovable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670048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000" b="1">
                <a:solidFill>
                  <a:srgbClr val="3957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9976" y="2194560"/>
            <a:ext cx="1600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9976" y="2267712"/>
            <a:ext cx="64008" cy="1316736"/>
          </a:xfrm>
          <a:prstGeom prst="rect">
            <a:avLst/>
          </a:prstGeom>
          <a:solidFill>
            <a:srgbClr val="395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2359152"/>
            <a:ext cx="125272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761488"/>
            <a:ext cx="1234440" cy="8046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API / orchestration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2670048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000" b="1">
                <a:solidFill>
                  <a:srgbClr val="3957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18504" y="2194560"/>
            <a:ext cx="1600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18504" y="2267712"/>
            <a:ext cx="64008" cy="1316736"/>
          </a:xfrm>
          <a:prstGeom prst="rect">
            <a:avLst/>
          </a:prstGeom>
          <a:solidFill>
            <a:srgbClr val="1C9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2359152"/>
            <a:ext cx="125272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Retriever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2761488"/>
            <a:ext cx="1234440" cy="8046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BM25 and/or vector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0416" y="2670048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000" b="1">
                <a:solidFill>
                  <a:srgbClr val="3957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7032" y="2194560"/>
            <a:ext cx="1600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57032" y="2267712"/>
            <a:ext cx="64008" cy="1316736"/>
          </a:xfrm>
          <a:prstGeom prst="rect">
            <a:avLst/>
          </a:prstGeom>
          <a:solidFill>
            <a:srgbClr val="F0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2359152"/>
            <a:ext cx="125272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LLM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2761488"/>
            <a:ext cx="1234440" cy="8046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Grounded 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38944" y="2670048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000" b="1">
                <a:solidFill>
                  <a:srgbClr val="3957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95560" y="2194560"/>
            <a:ext cx="1600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95560" y="2267712"/>
            <a:ext cx="64008" cy="1316736"/>
          </a:xfrm>
          <a:prstGeom prst="rect">
            <a:avLst/>
          </a:prstGeom>
          <a:solidFill>
            <a:srgbClr val="395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96728" y="2359152"/>
            <a:ext cx="125272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Sources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96728" y="2761488"/>
            <a:ext cx="1234440" cy="8046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Answer + citations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251960"/>
            <a:ext cx="106070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3957D2"/>
                </a:solidFill>
                <a:latin typeface="Aptos"/>
              </a:defRPr>
            </a:pPr>
            <a:r>
              <a:t>Document ingestion (separate flow)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754880"/>
            <a:ext cx="1060704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000" b="1">
                <a:solidFill>
                  <a:srgbClr val="141F3B"/>
                </a:solidFill>
                <a:latin typeface="Aptos"/>
              </a:defRPr>
            </a:pPr>
            <a:r>
              <a:t>Authorized upload → text extraction → chunking → indexing → searchable knowledge 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715000"/>
            <a:ext cx="10607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68748D"/>
                </a:solidFill>
                <a:latin typeface="Aptos"/>
              </a:defRPr>
            </a:pPr>
            <a:r>
              <a:t>Security: keep API keys server-side and restrict access to private documents.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700" b="1">
                <a:solidFill>
                  <a:srgbClr val="141F3B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0">
                <a:solidFill>
                  <a:srgbClr val="68748D"/>
                </a:solidFill>
                <a:latin typeface="Aptos"/>
              </a:defRPr>
            </a:pPr>
            <a:r>
              <a:t>List only the tools that are actually present in your codebase.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05840" cy="50292"/>
          </a:xfrm>
          <a:prstGeom prst="rect">
            <a:avLst/>
          </a:prstGeom>
          <a:solidFill>
            <a:srgbClr val="395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1">
                <a:solidFill>
                  <a:srgbClr val="68748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578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27632"/>
            <a:ext cx="64008" cy="1316736"/>
          </a:xfrm>
          <a:prstGeom prst="rect">
            <a:avLst/>
          </a:prstGeom>
          <a:solidFill>
            <a:srgbClr val="395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19072"/>
            <a:ext cx="491032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21408"/>
            <a:ext cx="4892040" cy="8046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Lovable-generated web interface; responsive chat experience.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578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27632"/>
            <a:ext cx="64008" cy="1316736"/>
          </a:xfrm>
          <a:prstGeom prst="rect">
            <a:avLst/>
          </a:prstGeom>
          <a:solidFill>
            <a:srgbClr val="33B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719072"/>
            <a:ext cx="491032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121408"/>
            <a:ext cx="4892040" cy="8046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Current demo describes browser-based BM25 retrieval; verify current behaviour.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37560"/>
            <a:ext cx="52578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410712"/>
            <a:ext cx="64008" cy="1316736"/>
          </a:xfrm>
          <a:prstGeom prst="rect">
            <a:avLst/>
          </a:prstGeom>
          <a:solidFill>
            <a:srgbClr val="1C9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502152"/>
            <a:ext cx="491032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Backend /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904487"/>
            <a:ext cx="4892040" cy="8046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Connect or document the real API, model and data services used.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337560"/>
            <a:ext cx="52578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410712"/>
            <a:ext cx="64008" cy="1316736"/>
          </a:xfrm>
          <a:prstGeom prst="rect">
            <a:avLst/>
          </a:prstGeom>
          <a:solidFill>
            <a:srgbClr val="F0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502152"/>
            <a:ext cx="491032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Knowledge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904487"/>
            <a:ext cx="4892040" cy="8046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College PDFs, notices and handbooks with source metadata.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94960"/>
            <a:ext cx="105156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141F3B"/>
                </a:solidFill>
                <a:latin typeface="Aptos"/>
              </a:defRPr>
            </a:pPr>
            <a:r>
              <a:t>Be transparent: separate implemented features from planned enhancements in your final submission.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700" b="1">
                <a:solidFill>
                  <a:srgbClr val="141F3B"/>
                </a:solidFill>
                <a:latin typeface="Aptos"/>
              </a:defRPr>
            </a:pPr>
            <a:r>
              <a:t>Testing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0">
                <a:solidFill>
                  <a:srgbClr val="68748D"/>
                </a:solidFill>
                <a:latin typeface="Aptos"/>
              </a:defRPr>
            </a:pPr>
            <a:r>
              <a:t>Show judges evidence that the assistant retrieves the right information.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05840" cy="50292"/>
          </a:xfrm>
          <a:prstGeom prst="rect">
            <a:avLst/>
          </a:prstGeom>
          <a:solidFill>
            <a:srgbClr val="395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1">
                <a:solidFill>
                  <a:srgbClr val="68748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3017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536192"/>
            <a:ext cx="64008" cy="676656"/>
          </a:xfrm>
          <a:prstGeom prst="rect">
            <a:avLst/>
          </a:prstGeom>
          <a:solidFill>
            <a:srgbClr val="395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627632"/>
            <a:ext cx="267004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Known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029968"/>
            <a:ext cx="26517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069080" y="1645920"/>
            <a:ext cx="6858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0">
                <a:solidFill>
                  <a:srgbClr val="232D44"/>
                </a:solidFill>
                <a:latin typeface="Aptos"/>
              </a:defRPr>
            </a:pPr>
            <a:r>
              <a:t>Correct answer + correct citation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514600"/>
            <a:ext cx="3017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587752"/>
            <a:ext cx="64008" cy="676656"/>
          </a:xfrm>
          <a:prstGeom prst="rect">
            <a:avLst/>
          </a:prstGeom>
          <a:solidFill>
            <a:srgbClr val="33B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679192"/>
            <a:ext cx="267004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Paraphrased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3081528"/>
            <a:ext cx="26517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069080" y="2697480"/>
            <a:ext cx="6858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0">
                <a:solidFill>
                  <a:srgbClr val="232D44"/>
                </a:solidFill>
                <a:latin typeface="Aptos"/>
              </a:defRPr>
            </a:pPr>
            <a:r>
              <a:t>Retrieve the same relevant passage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66160"/>
            <a:ext cx="3017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39312"/>
            <a:ext cx="64008" cy="676656"/>
          </a:xfrm>
          <a:prstGeom prst="rect">
            <a:avLst/>
          </a:prstGeom>
          <a:solidFill>
            <a:srgbClr val="1C9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730752"/>
            <a:ext cx="267004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Missing information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4133087"/>
            <a:ext cx="26517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069080" y="3749039"/>
            <a:ext cx="6858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0">
                <a:solidFill>
                  <a:srgbClr val="232D44"/>
                </a:solidFill>
                <a:latin typeface="Aptos"/>
              </a:defRPr>
            </a:pPr>
            <a:r>
              <a:t>Say the answer cannot be verified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617720"/>
            <a:ext cx="3017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690872"/>
            <a:ext cx="64008" cy="676656"/>
          </a:xfrm>
          <a:prstGeom prst="rect">
            <a:avLst/>
          </a:prstGeom>
          <a:solidFill>
            <a:srgbClr val="F0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4782312"/>
            <a:ext cx="267004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Conflicting notices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5184648"/>
            <a:ext cx="26517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4069080" y="4800600"/>
            <a:ext cx="6858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0">
                <a:solidFill>
                  <a:srgbClr val="232D44"/>
                </a:solidFill>
                <a:latin typeface="Aptos"/>
              </a:defRPr>
            </a:pPr>
            <a:r>
              <a:t>Ask for clarification or identify the latest valid source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68748D"/>
                </a:solidFill>
                <a:latin typeface="Aptos"/>
              </a:defRPr>
            </a:pPr>
            <a:r>
              <a:t>Report measured results only after running your test set; do not invent accuracy percentages.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700" b="1">
                <a:solidFill>
                  <a:srgbClr val="141F3B"/>
                </a:solidFill>
                <a:latin typeface="Aptos"/>
              </a:defRPr>
            </a:pPr>
            <a:r>
              <a:t>Impact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0">
                <a:solidFill>
                  <a:srgbClr val="68748D"/>
                </a:solidFill>
                <a:latin typeface="Aptos"/>
              </a:defRPr>
            </a:pPr>
            <a:r>
              <a:t>A scalable starting point for a more accessible campus knowledge experience.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05840" cy="50292"/>
          </a:xfrm>
          <a:prstGeom prst="rect">
            <a:avLst/>
          </a:prstGeom>
          <a:solidFill>
            <a:srgbClr val="395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1">
                <a:solidFill>
                  <a:srgbClr val="68748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27632"/>
            <a:ext cx="64008" cy="1682496"/>
          </a:xfrm>
          <a:prstGeom prst="rect">
            <a:avLst/>
          </a:prstGeom>
          <a:solidFill>
            <a:srgbClr val="395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19072"/>
            <a:ext cx="481888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Potential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21408"/>
            <a:ext cx="4800600" cy="11704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• Less time searching documents</a:t>
            </a:r>
            <a:br/>
            <a:r>
              <a:t>• Easier access to official information</a:t>
            </a:r>
            <a:br/>
            <a:r>
              <a:t>• Better answer traceability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27632"/>
            <a:ext cx="64008" cy="1682496"/>
          </a:xfrm>
          <a:prstGeom prst="rect">
            <a:avLst/>
          </a:prstGeom>
          <a:solidFill>
            <a:srgbClr val="33B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719072"/>
            <a:ext cx="481888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121408"/>
            <a:ext cx="4800600" cy="11704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• Multilingual queries</a:t>
            </a:r>
            <a:br/>
            <a:r>
              <a:t>• Voice input</a:t>
            </a:r>
            <a:br/>
            <a:r>
              <a:t>• Portal integration</a:t>
            </a:r>
            <a:br/>
            <a:r>
              <a:t>• Automated notice indexing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69080"/>
            <a:ext cx="104241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000" b="1">
                <a:solidFill>
                  <a:srgbClr val="3957D2"/>
                </a:solidFill>
                <a:latin typeface="Aptos"/>
              </a:defRPr>
            </a:pPr>
            <a:r>
              <a:t>Success 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72000"/>
            <a:ext cx="1051560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400" b="1">
                <a:solidFill>
                  <a:srgbClr val="141F3B"/>
                </a:solidFill>
                <a:latin typeface="Aptos"/>
              </a:defRPr>
            </a:pPr>
            <a:r>
              <a:t>Can a student get a correct, source-backed answer to a real college question in a few steps?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700" b="1">
                <a:solidFill>
                  <a:srgbClr val="141F3B"/>
                </a:solidFill>
                <a:latin typeface="Aptos"/>
              </a:defRPr>
            </a:pPr>
            <a:r>
              <a:t>Team SYNAPSE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0">
                <a:solidFill>
                  <a:srgbClr val="68748D"/>
                </a:solidFill>
                <a:latin typeface="Aptos"/>
              </a:defRPr>
            </a:pPr>
            <a:r>
              <a:t>A four-member team building a practical AI solution for campus knowledge.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05840" cy="50292"/>
          </a:xfrm>
          <a:prstGeom prst="rect">
            <a:avLst/>
          </a:prstGeom>
          <a:solidFill>
            <a:srgbClr val="395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1">
                <a:solidFill>
                  <a:srgbClr val="68748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4983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27632"/>
            <a:ext cx="64008" cy="1179576"/>
          </a:xfrm>
          <a:prstGeom prst="rect">
            <a:avLst/>
          </a:prstGeom>
          <a:solidFill>
            <a:srgbClr val="395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719072"/>
            <a:ext cx="463600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Abhiram Joshi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21408"/>
            <a:ext cx="4617720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Team Leader • Integration &amp; presentation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4983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27632"/>
            <a:ext cx="64008" cy="1179576"/>
          </a:xfrm>
          <a:prstGeom prst="rect">
            <a:avLst/>
          </a:prstGeom>
          <a:solidFill>
            <a:srgbClr val="33B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719072"/>
            <a:ext cx="463600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Karthik Shivappa Umachagi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121408"/>
            <a:ext cx="4617720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Frontend &amp; user experience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83280"/>
            <a:ext cx="4983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456432"/>
            <a:ext cx="64008" cy="1179576"/>
          </a:xfrm>
          <a:prstGeom prst="rect">
            <a:avLst/>
          </a:prstGeom>
          <a:solidFill>
            <a:srgbClr val="1C9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547872"/>
            <a:ext cx="463600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Shivashankar S Jatti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3950208"/>
            <a:ext cx="4617720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RAG &amp; document processing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383280"/>
            <a:ext cx="4983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456432"/>
            <a:ext cx="64008" cy="1179576"/>
          </a:xfrm>
          <a:prstGeom prst="rect">
            <a:avLst/>
          </a:prstGeom>
          <a:solidFill>
            <a:srgbClr val="F0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3547872"/>
            <a:ext cx="4636008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41F3B"/>
                </a:solidFill>
                <a:latin typeface="Aptos"/>
              </a:defRPr>
            </a:pPr>
            <a:r>
              <a:t>Somesh S Belludi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3950208"/>
            <a:ext cx="4617720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32D44"/>
                </a:solidFill>
                <a:latin typeface="Aptos"/>
              </a:defRPr>
            </a:pPr>
            <a:r>
              <a:t>Testing &amp; 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141F3B"/>
                </a:solidFill>
                <a:latin typeface="Aptos"/>
              </a:defRPr>
            </a:pPr>
            <a:r>
              <a:t>Department: AIML  |  Year: First Year  |  Division: A3  |  Problem ID: AI*01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94360"/>
            <a:ext cx="45720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1">
                <a:solidFill>
                  <a:srgbClr val="33B5CF"/>
                </a:solidFill>
                <a:latin typeface="Aptos"/>
              </a:defRPr>
            </a:pPr>
            <a:r>
              <a:t>SYNAPSE AI  •  AI*01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4241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One question. One intelligent assistant.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5156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100" b="1">
                <a:solidFill>
                  <a:srgbClr val="A1B9FF"/>
                </a:solidFill>
                <a:latin typeface="Aptos"/>
              </a:defRPr>
            </a:pPr>
            <a:r>
              <a:t>Verified college knowledge.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987552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900" b="0">
                <a:solidFill>
                  <a:srgbClr val="FFFFFF"/>
                </a:solidFill>
                <a:latin typeface="Aptos"/>
              </a:defRPr>
            </a:pPr>
            <a:r>
              <a:t>UniAssist AI aims to turn scattered college documents into accessible, searchable knowledge — with answers that users can verify.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343400"/>
            <a:ext cx="6675120" cy="777240"/>
          </a:xfrm>
          <a:prstGeom prst="roundRect">
            <a:avLst/>
          </a:prstGeom>
          <a:solidFill>
            <a:srgbClr val="24355E"/>
          </a:solidFill>
          <a:ln>
            <a:solidFill>
              <a:srgbClr val="445B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544568"/>
            <a:ext cx="6126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900" b="1">
                <a:solidFill>
                  <a:srgbClr val="33B5CF"/>
                </a:solidFill>
                <a:latin typeface="Aptos"/>
              </a:defRPr>
            </a:pPr>
            <a:r>
              <a:t>https://uniassistai.lovable.app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60720"/>
            <a:ext cx="7772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Thank you • Questions &amp; Answers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6035040"/>
            <a:ext cx="29260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300" b="1">
                <a:solidFill>
                  <a:srgbClr val="33B5CF"/>
                </a:solidFill>
                <a:latin typeface="Aptos"/>
              </a:defRPr>
            </a:pPr>
            <a:r>
              <a:t>TEAM SYNAPSE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